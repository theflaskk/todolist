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66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7" r:id="rId13"/>
  </p:sldIdLst>
  <p:sldSz cx="12192000" cy="6858000"/>
  <p:notesSz cx="6858000" cy="12192000"/>
  <p:embeddedFontLst>
    <p:embeddedFont>
      <p:font typeface="Calibri" panose="020F0502020204030204" pitchFamily="34" charset="0"/>
      <p:regular r:id="rId15"/>
      <p:bold r:id="rId16"/>
      <p:italic r:id="rId17"/>
      <p:boldItalic r:id="rId18"/>
    </p:embeddedFont>
    <p:embeddedFont>
      <p:font typeface="Consolas" panose="020B0609020204030204" pitchFamily="49" charset="0"/>
      <p:regular r:id="rId19"/>
      <p:bold r:id="rId20"/>
      <p:italic r:id="rId21"/>
      <p:boldItalic r:id="rId22"/>
    </p:embeddedFont>
    <p:embeddedFont>
      <p:font typeface="Noto Sans" panose="020B0502040504020204" pitchFamily="34" charset="0"/>
      <p:regular r:id="rId23"/>
    </p:embeddedFont>
    <p:embeddedFont>
      <p:font typeface="Open Sans" panose="020B0606030504020204" pitchFamily="34" charset="0"/>
      <p:regular r:id="rId24"/>
      <p:bold r:id="rId25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14" d="100"/>
          <a:sy n="114" d="100"/>
        </p:scale>
        <p:origin x="438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4.fntdata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font" Target="fonts/font7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3.fntdata"/><Relationship Id="rId25" Type="http://schemas.openxmlformats.org/officeDocument/2006/relationships/font" Target="fonts/font11.fntdata"/><Relationship Id="rId2" Type="http://schemas.openxmlformats.org/officeDocument/2006/relationships/slide" Target="slides/slide1.xml"/><Relationship Id="rId16" Type="http://schemas.openxmlformats.org/officeDocument/2006/relationships/font" Target="fonts/font2.fntdata"/><Relationship Id="rId20" Type="http://schemas.openxmlformats.org/officeDocument/2006/relationships/font" Target="fonts/font6.fntdata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10.fntdata"/><Relationship Id="rId5" Type="http://schemas.openxmlformats.org/officeDocument/2006/relationships/slide" Target="slides/slide4.xml"/><Relationship Id="rId15" Type="http://schemas.openxmlformats.org/officeDocument/2006/relationships/font" Target="fonts/font1.fntdata"/><Relationship Id="rId23" Type="http://schemas.openxmlformats.org/officeDocument/2006/relationships/font" Target="fonts/font9.fntdata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font" Target="fonts/font5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Relationship Id="rId22" Type="http://schemas.openxmlformats.org/officeDocument/2006/relationships/font" Target="fonts/font8.fntdata"/><Relationship Id="rId27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53450238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bg>
      <p:bgPr>
        <a:solidFill>
          <a:srgbClr val="004F4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2">
    <p:bg>
      <p:bgPr>
        <a:solidFill>
          <a:srgbClr val="25312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3">
    <p:bg>
      <p:bgPr>
        <a:solidFill>
          <a:srgbClr val="004F4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2302756"/>
            <a:ext cx="7721407" cy="120689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lnSpc>
                <a:spcPct val="90000"/>
              </a:lnSpc>
              <a:buNone/>
            </a:pPr>
            <a:r>
              <a:rPr lang="en-US" sz="4400" kern="100" spc="-132" dirty="0">
                <a:solidFill>
                  <a:srgbClr val="F4EFE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TodoList — </a:t>
            </a:r>
            <a:r>
              <a:rPr lang="en-US" sz="4400" kern="100" spc="-132" dirty="0">
                <a:solidFill>
                  <a:srgbClr val="F58E84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интерфейс,</a:t>
            </a:r>
            <a:r>
              <a:rPr lang="en-US" sz="4400" kern="100" spc="-132" dirty="0">
                <a:solidFill>
                  <a:srgbClr val="F4EFE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документация и DevOps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609585" y="3668911"/>
            <a:ext cx="8330992" cy="3683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2000" dirty="0">
                <a:solidFill>
                  <a:srgbClr val="F4EFE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Учебный проект TodoList на Python и Django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609585" y="4281686"/>
            <a:ext cx="2547874" cy="279301"/>
          </a:xfrm>
          <a:prstGeom prst="roundRect">
            <a:avLst>
              <a:gd name="adj" fmla="val 49999"/>
            </a:avLst>
          </a:prstGeom>
          <a:solidFill>
            <a:srgbClr val="F58E84"/>
          </a:solidFill>
          <a:ln/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2211129"/>
            <a:ext cx="8534187" cy="6583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0000"/>
              </a:lnSpc>
              <a:buNone/>
            </a:pPr>
            <a:r>
              <a:rPr lang="en-US" sz="4800" kern="100" spc="-144" dirty="0">
                <a:solidFill>
                  <a:srgbClr val="F4EFE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1. Разработчик </a:t>
            </a:r>
            <a:r>
              <a:rPr lang="en-US" sz="4800" kern="100" spc="-144" dirty="0">
                <a:solidFill>
                  <a:srgbClr val="F58E84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интерфейса</a:t>
            </a:r>
            <a:endParaRPr lang="en-US" sz="4800" dirty="0"/>
          </a:p>
        </p:txBody>
      </p:sp>
      <p:sp>
        <p:nvSpPr>
          <p:cNvPr id="3" name="Shape 1"/>
          <p:cNvSpPr/>
          <p:nvPr/>
        </p:nvSpPr>
        <p:spPr>
          <a:xfrm>
            <a:off x="609585" y="3078857"/>
            <a:ext cx="4267093" cy="279301"/>
          </a:xfrm>
          <a:prstGeom prst="roundRect">
            <a:avLst>
              <a:gd name="adj" fmla="val 49999"/>
            </a:avLst>
          </a:prstGeom>
          <a:solidFill>
            <a:srgbClr val="F58E84"/>
          </a:solidFill>
          <a:ln/>
        </p:spPr>
      </p:sp>
      <p:sp>
        <p:nvSpPr>
          <p:cNvPr id="4" name="Text 2"/>
          <p:cNvSpPr/>
          <p:nvPr/>
        </p:nvSpPr>
        <p:spPr>
          <a:xfrm>
            <a:off x="609585" y="3609082"/>
            <a:ext cx="8534187" cy="1104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2000" dirty="0">
                <a:solidFill>
                  <a:srgbClr val="F4EFE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Задача frontend-разработчика — сделать работу с задачами понятной и предсказуемой. В проекте Django интерфейс строится на HTML-шаблонах и CSS.</a:t>
            </a:r>
            <a:endParaRPr lang="en-US" sz="2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644186"/>
            <a:ext cx="10972526" cy="356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0000"/>
              </a:lnSpc>
              <a:buNone/>
            </a:pPr>
            <a:r>
              <a:rPr lang="en-US" sz="2600" kern="100" spc="-78" dirty="0">
                <a:solidFill>
                  <a:srgbClr val="F4EFE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Схема интерфейса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609585" y="1182092"/>
            <a:ext cx="10972526" cy="1064419"/>
          </a:xfrm>
          <a:prstGeom prst="roundRect">
            <a:avLst>
              <a:gd name="adj" fmla="val 8519"/>
            </a:avLst>
          </a:prstGeom>
          <a:solidFill>
            <a:srgbClr val="1F6E65"/>
          </a:solidFill>
          <a:ln/>
        </p:spPr>
      </p:sp>
      <p:sp>
        <p:nvSpPr>
          <p:cNvPr id="4" name="Text 2"/>
          <p:cNvSpPr/>
          <p:nvPr/>
        </p:nvSpPr>
        <p:spPr>
          <a:xfrm>
            <a:off x="838179" y="1413391"/>
            <a:ext cx="10743931" cy="3130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700" dirty="0">
                <a:solidFill>
                  <a:srgbClr val="F4EFE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base.html задаёт общий каркас: навигацию, область содержимого и подключение стилей.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609585" y="2398911"/>
            <a:ext cx="5333867" cy="38100"/>
          </a:xfrm>
          <a:prstGeom prst="rect">
            <a:avLst/>
          </a:prstGeom>
          <a:solidFill>
            <a:srgbClr val="F58E84"/>
          </a:solidFill>
          <a:ln/>
        </p:spPr>
      </p:sp>
      <p:sp>
        <p:nvSpPr>
          <p:cNvPr id="6" name="Text 4"/>
          <p:cNvSpPr/>
          <p:nvPr/>
        </p:nvSpPr>
        <p:spPr>
          <a:xfrm>
            <a:off x="838179" y="2668310"/>
            <a:ext cx="4876678" cy="6260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700" dirty="0">
                <a:solidFill>
                  <a:srgbClr val="F4EFE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Страница списка показывает задачи, статус и доступные действия.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6248244" y="2398911"/>
            <a:ext cx="5333867" cy="38100"/>
          </a:xfrm>
          <a:prstGeom prst="rect">
            <a:avLst/>
          </a:prstGeom>
          <a:solidFill>
            <a:srgbClr val="F58E84"/>
          </a:solidFill>
          <a:ln/>
        </p:spPr>
      </p:sp>
      <p:sp>
        <p:nvSpPr>
          <p:cNvPr id="8" name="Text 6"/>
          <p:cNvSpPr/>
          <p:nvPr/>
        </p:nvSpPr>
        <p:spPr>
          <a:xfrm>
            <a:off x="6476838" y="2668310"/>
            <a:ext cx="4876678" cy="6260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700" dirty="0">
                <a:solidFill>
                  <a:srgbClr val="F4EFE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Форма создания/редактирования содержит поля и сообщения об ошибках.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609585" y="3966964"/>
            <a:ext cx="114297" cy="1064518"/>
          </a:xfrm>
          <a:prstGeom prst="rect">
            <a:avLst/>
          </a:prstGeom>
          <a:solidFill>
            <a:srgbClr val="F58E84"/>
          </a:solidFill>
          <a:ln/>
        </p:spPr>
      </p:sp>
      <p:sp>
        <p:nvSpPr>
          <p:cNvPr id="10" name="Text 8"/>
          <p:cNvSpPr/>
          <p:nvPr/>
        </p:nvSpPr>
        <p:spPr>
          <a:xfrm>
            <a:off x="939776" y="4198263"/>
            <a:ext cx="10642334" cy="3130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700" dirty="0">
                <a:solidFill>
                  <a:srgbClr val="F4EFE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Страницы входа и регистрации обеспечивают аутентификацию.</a:t>
            </a: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609585" y="5183882"/>
            <a:ext cx="10972526" cy="1064518"/>
          </a:xfrm>
          <a:prstGeom prst="roundRect">
            <a:avLst>
              <a:gd name="adj" fmla="val 8518"/>
            </a:avLst>
          </a:prstGeom>
          <a:solidFill>
            <a:srgbClr val="1F6E65"/>
          </a:solidFill>
          <a:ln/>
        </p:spPr>
      </p:sp>
      <p:sp>
        <p:nvSpPr>
          <p:cNvPr id="12" name="Text 10"/>
          <p:cNvSpPr/>
          <p:nvPr/>
        </p:nvSpPr>
        <p:spPr>
          <a:xfrm>
            <a:off x="838179" y="5415181"/>
            <a:ext cx="10743931" cy="3130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700" dirty="0">
                <a:solidFill>
                  <a:srgbClr val="F4EFE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CSS отвечает за отступы, цвета, состояния кнопок и адаптивность.</a:t>
            </a:r>
            <a:endParaRPr lang="en-US" sz="17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49E8B425-B1E3-4265-8AE4-C829FECC666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4167391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644186"/>
            <a:ext cx="10972526" cy="356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0000"/>
              </a:lnSpc>
              <a:buNone/>
            </a:pPr>
            <a:r>
              <a:rPr lang="en-US" sz="2600" kern="100" spc="-78" dirty="0">
                <a:solidFill>
                  <a:srgbClr val="F4EFE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Примеры взаимодействия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609585" y="1184791"/>
            <a:ext cx="5257668" cy="9391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700" dirty="0">
                <a:solidFill>
                  <a:srgbClr val="F4EFE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Создание: пользователь заполняет форму; сервер проверяет данные, сохраняет задачу и показывает обновлённый список.</a:t>
            </a:r>
            <a:endParaRPr lang="en-US" sz="1700" dirty="0"/>
          </a:p>
        </p:txBody>
      </p:sp>
      <p:sp>
        <p:nvSpPr>
          <p:cNvPr id="4" name="Text 2"/>
          <p:cNvSpPr/>
          <p:nvPr/>
        </p:nvSpPr>
        <p:spPr>
          <a:xfrm>
            <a:off x="6324442" y="1184791"/>
            <a:ext cx="5257668" cy="6260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700" dirty="0">
                <a:solidFill>
                  <a:srgbClr val="F4EFE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Ошибка: если поле пустое, форма отображает понятное сообщение.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609585" y="3946545"/>
            <a:ext cx="5257668" cy="6260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700" dirty="0">
                <a:solidFill>
                  <a:srgbClr val="F4EFE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Завершение: пользователь меняет статус, сервер проверяет права и сохраняет изменение.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6324442" y="3946545"/>
            <a:ext cx="5257668" cy="6260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700" dirty="0">
                <a:solidFill>
                  <a:srgbClr val="F4EFE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Навигация: ссылки ведут к списку, форме и страницам аутентификации.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6089498" y="1182092"/>
            <a:ext cx="12700" cy="2533154"/>
          </a:xfrm>
          <a:prstGeom prst="rect">
            <a:avLst/>
          </a:prstGeom>
          <a:solidFill>
            <a:srgbClr val="2F6B61"/>
          </a:solidFill>
          <a:ln/>
        </p:spPr>
      </p:sp>
      <p:sp>
        <p:nvSpPr>
          <p:cNvPr id="8" name="Shape 6"/>
          <p:cNvSpPr/>
          <p:nvPr/>
        </p:nvSpPr>
        <p:spPr>
          <a:xfrm>
            <a:off x="609585" y="3708896"/>
            <a:ext cx="5486263" cy="12700"/>
          </a:xfrm>
          <a:prstGeom prst="rect">
            <a:avLst/>
          </a:prstGeom>
          <a:solidFill>
            <a:srgbClr val="2F6B61"/>
          </a:solidFill>
          <a:ln/>
        </p:spPr>
      </p:sp>
      <p:sp>
        <p:nvSpPr>
          <p:cNvPr id="9" name="Shape 7"/>
          <p:cNvSpPr/>
          <p:nvPr/>
        </p:nvSpPr>
        <p:spPr>
          <a:xfrm>
            <a:off x="6089498" y="3715246"/>
            <a:ext cx="12700" cy="2533154"/>
          </a:xfrm>
          <a:prstGeom prst="rect">
            <a:avLst/>
          </a:prstGeom>
          <a:solidFill>
            <a:srgbClr val="2F6B61"/>
          </a:solidFill>
          <a:ln/>
        </p:spPr>
      </p:sp>
      <p:sp>
        <p:nvSpPr>
          <p:cNvPr id="10" name="Shape 8"/>
          <p:cNvSpPr/>
          <p:nvPr/>
        </p:nvSpPr>
        <p:spPr>
          <a:xfrm>
            <a:off x="6095848" y="3708896"/>
            <a:ext cx="5486263" cy="12700"/>
          </a:xfrm>
          <a:prstGeom prst="rect">
            <a:avLst/>
          </a:prstGeom>
          <a:solidFill>
            <a:srgbClr val="2F6B61"/>
          </a:solidFill>
          <a:ln/>
        </p:spPr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644186"/>
            <a:ext cx="10972526" cy="356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0000"/>
              </a:lnSpc>
              <a:buNone/>
            </a:pPr>
            <a:r>
              <a:rPr lang="en-US" sz="2600" kern="100" spc="-78" dirty="0">
                <a:solidFill>
                  <a:srgbClr val="F4EFE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Пример HTML-формы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609585" y="1954907"/>
            <a:ext cx="7010225" cy="3304877"/>
          </a:xfrm>
          <a:prstGeom prst="roundRect">
            <a:avLst>
              <a:gd name="adj" fmla="val 2744"/>
            </a:avLst>
          </a:prstGeom>
          <a:noFill/>
          <a:ln w="25399">
            <a:solidFill>
              <a:srgbClr val="38877E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39776" y="2527995"/>
            <a:ext cx="6349841" cy="2158702"/>
          </a:xfrm>
          <a:prstGeom prst="roundRect">
            <a:avLst>
              <a:gd name="adj" fmla="val 4200"/>
            </a:avLst>
          </a:prstGeom>
          <a:solidFill>
            <a:srgbClr val="253122"/>
          </a:solidFill>
          <a:ln/>
        </p:spPr>
      </p:sp>
      <p:sp>
        <p:nvSpPr>
          <p:cNvPr id="5" name="Text 3"/>
          <p:cNvSpPr/>
          <p:nvPr/>
        </p:nvSpPr>
        <p:spPr>
          <a:xfrm>
            <a:off x="1198830" y="2743895"/>
            <a:ext cx="5831734" cy="17269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92500"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7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&lt;form method="post"&gt;</a:t>
            </a:r>
            <a:endParaRPr lang="en-US" sz="17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7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{% csrf_token %}</a:t>
            </a:r>
            <a:endParaRPr lang="en-US" sz="17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7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{{ form.as_p }}</a:t>
            </a:r>
            <a:endParaRPr lang="en-US" sz="17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7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&lt;button type="submit"&gt;Сохранить задачу&lt;/button&gt;</a:t>
            </a:r>
            <a:endParaRPr lang="en-US" sz="17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7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&lt;/form&gt;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8076998" y="2262406"/>
            <a:ext cx="3505112" cy="156517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700" dirty="0">
                <a:solidFill>
                  <a:srgbClr val="F4EFE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CSRF-токен нужен для обычной POST-формы при включённой защите Django. Ошибки полей следует показывать пользователю.</a:t>
            </a:r>
            <a:endParaRPr lang="en-US" sz="17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644186"/>
            <a:ext cx="10972526" cy="356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0000"/>
              </a:lnSpc>
              <a:buNone/>
            </a:pPr>
            <a:r>
              <a:rPr lang="en-US" sz="2600" kern="100" spc="-78" dirty="0">
                <a:solidFill>
                  <a:srgbClr val="F4EFE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Защита инкапсуляции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609585" y="1184791"/>
            <a:ext cx="10972526" cy="9391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700" dirty="0">
                <a:solidFill>
                  <a:srgbClr val="F4EFE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Инкапсуляция скрывает внутренние детали объекта за понятным интерфейсом. В веб-приложении похожий подход реализуется разделением отображения, проверки данных, бизнес-логики и доступа к базе.</a:t>
            </a:r>
            <a:endParaRPr lang="en-US" sz="1700" dirty="0"/>
          </a:p>
        </p:txBody>
      </p:sp>
      <p:sp>
        <p:nvSpPr>
          <p:cNvPr id="4" name="Shape 2"/>
          <p:cNvSpPr/>
          <p:nvPr/>
        </p:nvSpPr>
        <p:spPr>
          <a:xfrm>
            <a:off x="609585" y="2314873"/>
            <a:ext cx="10972526" cy="807145"/>
          </a:xfrm>
          <a:prstGeom prst="roundRect">
            <a:avLst>
              <a:gd name="adj" fmla="val 11234"/>
            </a:avLst>
          </a:prstGeom>
          <a:solidFill>
            <a:srgbClr val="1F6E65"/>
          </a:solidFill>
          <a:ln/>
        </p:spPr>
      </p:sp>
      <p:sp>
        <p:nvSpPr>
          <p:cNvPr id="5" name="Text 3"/>
          <p:cNvSpPr/>
          <p:nvPr/>
        </p:nvSpPr>
        <p:spPr>
          <a:xfrm>
            <a:off x="838179" y="2469654"/>
            <a:ext cx="10743931" cy="2762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500" dirty="0">
                <a:solidFill>
                  <a:srgbClr val="F4EFE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Шаблон отвечает за отображение, а не за бизнес-правила.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609585" y="3274417"/>
            <a:ext cx="10972526" cy="807145"/>
          </a:xfrm>
          <a:prstGeom prst="roundRect">
            <a:avLst>
              <a:gd name="adj" fmla="val 11234"/>
            </a:avLst>
          </a:prstGeom>
          <a:solidFill>
            <a:srgbClr val="1F6E65"/>
          </a:solidFill>
          <a:ln/>
        </p:spPr>
      </p:sp>
      <p:sp>
        <p:nvSpPr>
          <p:cNvPr id="7" name="Text 5"/>
          <p:cNvSpPr/>
          <p:nvPr/>
        </p:nvSpPr>
        <p:spPr>
          <a:xfrm>
            <a:off x="838179" y="3429198"/>
            <a:ext cx="10743931" cy="2762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500" dirty="0">
                <a:solidFill>
                  <a:srgbClr val="F4EFE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Форма проверяет ввод; представление или сервис применяет правила доступа.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609585" y="4233962"/>
            <a:ext cx="10972526" cy="807145"/>
          </a:xfrm>
          <a:prstGeom prst="roundRect">
            <a:avLst>
              <a:gd name="adj" fmla="val 11234"/>
            </a:avLst>
          </a:prstGeom>
          <a:solidFill>
            <a:srgbClr val="1F6E65"/>
          </a:solidFill>
          <a:ln/>
        </p:spPr>
      </p:sp>
      <p:sp>
        <p:nvSpPr>
          <p:cNvPr id="9" name="Text 7"/>
          <p:cNvSpPr/>
          <p:nvPr/>
        </p:nvSpPr>
        <p:spPr>
          <a:xfrm>
            <a:off x="838179" y="4388743"/>
            <a:ext cx="10743931" cy="2762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500" dirty="0">
                <a:solidFill>
                  <a:srgbClr val="F4EFE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Модель и ORM управляют хранением данных; шаблон не работает с БД напрямую.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609585" y="5195888"/>
            <a:ext cx="5257668" cy="5524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500" u="sng" dirty="0">
                <a:solidFill>
                  <a:srgbClr val="F4EFE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Скрытая кнопка не защищает ресурс:</a:t>
            </a:r>
            <a:r>
              <a:rPr lang="en-US" sz="1500" dirty="0">
                <a:solidFill>
                  <a:srgbClr val="F4EFE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права нужно проверять на сервере.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6324442" y="5195888"/>
            <a:ext cx="5257668" cy="8286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500" dirty="0">
                <a:solidFill>
                  <a:srgbClr val="F4EFE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Подчёркивание в имени Python-метода (_helper) — соглашение о внутреннем использовании, а не строгая приватность.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6089498" y="5193506"/>
            <a:ext cx="12700" cy="828675"/>
          </a:xfrm>
          <a:prstGeom prst="rect">
            <a:avLst/>
          </a:prstGeom>
          <a:solidFill>
            <a:srgbClr val="2F6B61"/>
          </a:solidFill>
          <a:ln/>
        </p:spPr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644186"/>
            <a:ext cx="10972526" cy="356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0000"/>
              </a:lnSpc>
              <a:buNone/>
            </a:pPr>
            <a:r>
              <a:rPr lang="en-US" sz="2600" kern="100" spc="-78" dirty="0">
                <a:solidFill>
                  <a:srgbClr val="F4EFE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Критерии приёмки интерфейса</a:t>
            </a:r>
            <a:endParaRPr lang="en-US" sz="26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585" y="1186160"/>
            <a:ext cx="304792" cy="3048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117572" y="1184791"/>
            <a:ext cx="10464538" cy="3130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700" dirty="0">
                <a:solidFill>
                  <a:srgbClr val="F4EFE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Пользователь понимает, как создать и завершить задачу.</a:t>
            </a:r>
            <a:endParaRPr lang="en-US" sz="1700" dirty="0"/>
          </a:p>
        </p:txBody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585" y="2290862"/>
            <a:ext cx="304792" cy="304800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1117572" y="2289492"/>
            <a:ext cx="10464538" cy="3130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700" dirty="0">
                <a:solidFill>
                  <a:srgbClr val="F4EFE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Ошибки формы отображаются понятно.</a:t>
            </a:r>
            <a:endParaRPr lang="en-US" sz="1700" dirty="0"/>
          </a:p>
        </p:txBody>
      </p:sp>
      <p:pic>
        <p:nvPicPr>
          <p:cNvPr id="7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585" y="3395563"/>
            <a:ext cx="304792" cy="304800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1117572" y="3394194"/>
            <a:ext cx="10464538" cy="3130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700" dirty="0">
                <a:solidFill>
                  <a:srgbClr val="F4EFE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Страницы имеют единый стиль и навигацию.</a:t>
            </a:r>
            <a:endParaRPr lang="en-US" sz="1700" dirty="0"/>
          </a:p>
        </p:txBody>
      </p:sp>
      <p:pic>
        <p:nvPicPr>
          <p:cNvPr id="9" name="Image 3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585" y="4500265"/>
            <a:ext cx="304792" cy="304800"/>
          </a:xfrm>
          <a:prstGeom prst="rect">
            <a:avLst/>
          </a:prstGeom>
        </p:spPr>
      </p:pic>
      <p:sp>
        <p:nvSpPr>
          <p:cNvPr id="10" name="Text 4"/>
          <p:cNvSpPr/>
          <p:nvPr/>
        </p:nvSpPr>
        <p:spPr>
          <a:xfrm>
            <a:off x="1117572" y="4498896"/>
            <a:ext cx="10464538" cy="3130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700" dirty="0">
                <a:solidFill>
                  <a:srgbClr val="F4EFE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Формы используют POST и CSRF-защиту.</a:t>
            </a:r>
            <a:endParaRPr lang="en-US" sz="1700" dirty="0"/>
          </a:p>
        </p:txBody>
      </p:sp>
      <p:pic>
        <p:nvPicPr>
          <p:cNvPr id="11" name="Image 4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585" y="5604966"/>
            <a:ext cx="304792" cy="304800"/>
          </a:xfrm>
          <a:prstGeom prst="rect">
            <a:avLst/>
          </a:prstGeom>
        </p:spPr>
      </p:pic>
      <p:sp>
        <p:nvSpPr>
          <p:cNvPr id="12" name="Text 5"/>
          <p:cNvSpPr/>
          <p:nvPr/>
        </p:nvSpPr>
        <p:spPr>
          <a:xfrm>
            <a:off x="1117572" y="5603597"/>
            <a:ext cx="10464538" cy="3130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700" dirty="0">
                <a:solidFill>
                  <a:srgbClr val="F4EFE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Страница остаётся читаемой на узком экране.</a:t>
            </a:r>
            <a:endParaRPr lang="en-US" sz="1700" dirty="0"/>
          </a:p>
        </p:txBody>
      </p:sp>
      <p:sp>
        <p:nvSpPr>
          <p:cNvPr id="13" name="Shape 6"/>
          <p:cNvSpPr/>
          <p:nvPr/>
        </p:nvSpPr>
        <p:spPr>
          <a:xfrm>
            <a:off x="609585" y="2051844"/>
            <a:ext cx="10972526" cy="12700"/>
          </a:xfrm>
          <a:prstGeom prst="rect">
            <a:avLst/>
          </a:prstGeom>
          <a:solidFill>
            <a:srgbClr val="2F6B61"/>
          </a:solidFill>
          <a:ln/>
        </p:spPr>
      </p:sp>
      <p:sp>
        <p:nvSpPr>
          <p:cNvPr id="14" name="Shape 7"/>
          <p:cNvSpPr/>
          <p:nvPr/>
        </p:nvSpPr>
        <p:spPr>
          <a:xfrm>
            <a:off x="609585" y="3156545"/>
            <a:ext cx="10972526" cy="12700"/>
          </a:xfrm>
          <a:prstGeom prst="rect">
            <a:avLst/>
          </a:prstGeom>
          <a:solidFill>
            <a:srgbClr val="2F6B61"/>
          </a:solidFill>
          <a:ln/>
        </p:spPr>
      </p:sp>
      <p:sp>
        <p:nvSpPr>
          <p:cNvPr id="15" name="Shape 8"/>
          <p:cNvSpPr/>
          <p:nvPr/>
        </p:nvSpPr>
        <p:spPr>
          <a:xfrm>
            <a:off x="609585" y="4261247"/>
            <a:ext cx="10972526" cy="12700"/>
          </a:xfrm>
          <a:prstGeom prst="rect">
            <a:avLst/>
          </a:prstGeom>
          <a:solidFill>
            <a:srgbClr val="2F6B61"/>
          </a:solidFill>
          <a:ln/>
        </p:spPr>
      </p:sp>
      <p:sp>
        <p:nvSpPr>
          <p:cNvPr id="16" name="Shape 9"/>
          <p:cNvSpPr/>
          <p:nvPr/>
        </p:nvSpPr>
        <p:spPr>
          <a:xfrm>
            <a:off x="609585" y="5365948"/>
            <a:ext cx="10972526" cy="12700"/>
          </a:xfrm>
          <a:prstGeom prst="rect">
            <a:avLst/>
          </a:prstGeom>
          <a:solidFill>
            <a:srgbClr val="2F6B61"/>
          </a:solidFill>
          <a:ln/>
        </p:spPr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641534" y="2236180"/>
            <a:ext cx="8940576" cy="6034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0000"/>
              </a:lnSpc>
              <a:buNone/>
            </a:pPr>
            <a:r>
              <a:rPr lang="en-US" sz="4400" kern="100" spc="-132" dirty="0">
                <a:solidFill>
                  <a:srgbClr val="F4EFE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2. Технический писатель и </a:t>
            </a:r>
            <a:r>
              <a:rPr lang="en-US" sz="4400" kern="100" spc="-132" dirty="0">
                <a:solidFill>
                  <a:srgbClr val="F58E84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DevOps</a:t>
            </a:r>
            <a:endParaRPr lang="en-US" sz="4400" dirty="0"/>
          </a:p>
        </p:txBody>
      </p:sp>
      <p:sp>
        <p:nvSpPr>
          <p:cNvPr id="3" name="Shape 1"/>
          <p:cNvSpPr/>
          <p:nvPr/>
        </p:nvSpPr>
        <p:spPr>
          <a:xfrm>
            <a:off x="2641534" y="3049686"/>
            <a:ext cx="4470189" cy="279301"/>
          </a:xfrm>
          <a:prstGeom prst="roundRect">
            <a:avLst>
              <a:gd name="adj" fmla="val 49999"/>
            </a:avLst>
          </a:prstGeom>
          <a:solidFill>
            <a:srgbClr val="F58E84"/>
          </a:solidFill>
          <a:ln/>
        </p:spPr>
      </p:sp>
      <p:sp>
        <p:nvSpPr>
          <p:cNvPr id="4" name="Text 2"/>
          <p:cNvSpPr/>
          <p:nvPr/>
        </p:nvSpPr>
        <p:spPr>
          <a:xfrm>
            <a:off x="2641534" y="3579912"/>
            <a:ext cx="8940576" cy="1104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2000" dirty="0">
                <a:solidFill>
                  <a:srgbClr val="F4EFE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Технический писатель объясняет установку, запуск и устройство проекта. DevOps делает запуск воспроизводимым и помогает команде проверять приложение.</a:t>
            </a:r>
            <a:endParaRPr lang="en-US" sz="2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644186"/>
            <a:ext cx="10972526" cy="356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0000"/>
              </a:lnSpc>
              <a:buNone/>
            </a:pPr>
            <a:r>
              <a:rPr lang="en-US" sz="2600" kern="100" spc="-78" dirty="0">
                <a:solidFill>
                  <a:srgbClr val="F4EFE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Структура репозитория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609585" y="1182092"/>
            <a:ext cx="6309262" cy="5066308"/>
          </a:xfrm>
          <a:prstGeom prst="roundRect">
            <a:avLst>
              <a:gd name="adj" fmla="val 1790"/>
            </a:avLst>
          </a:prstGeom>
          <a:noFill/>
          <a:ln w="25399">
            <a:solidFill>
              <a:srgbClr val="38877E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14377" y="1625005"/>
            <a:ext cx="5699677" cy="3886200"/>
          </a:xfrm>
          <a:prstGeom prst="roundRect">
            <a:avLst>
              <a:gd name="adj" fmla="val 2059"/>
            </a:avLst>
          </a:prstGeom>
          <a:solidFill>
            <a:srgbClr val="253122"/>
          </a:solidFill>
          <a:ln/>
        </p:spPr>
      </p:sp>
      <p:sp>
        <p:nvSpPr>
          <p:cNvPr id="5" name="Text 3"/>
          <p:cNvSpPr/>
          <p:nvPr/>
        </p:nvSpPr>
        <p:spPr>
          <a:xfrm>
            <a:off x="1142971" y="1828205"/>
            <a:ext cx="5242488" cy="3505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15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todolist/</a:t>
            </a:r>
            <a:endParaRPr lang="en-US" sz="1500" dirty="0"/>
          </a:p>
          <a:p>
            <a:pPr marL="0" indent="0" algn="l">
              <a:lnSpc>
                <a:spcPct val="96000"/>
              </a:lnSpc>
              <a:buNone/>
            </a:pPr>
            <a:r>
              <a:rPr lang="en-US" sz="15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├── manage.py</a:t>
            </a:r>
            <a:endParaRPr lang="en-US" sz="1500" dirty="0"/>
          </a:p>
          <a:p>
            <a:pPr marL="0" indent="0" algn="l">
              <a:lnSpc>
                <a:spcPct val="96000"/>
              </a:lnSpc>
              <a:buNone/>
            </a:pPr>
            <a:r>
              <a:rPr lang="en-US" sz="15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├── requirements.txt</a:t>
            </a:r>
            <a:endParaRPr lang="en-US" sz="1500" dirty="0"/>
          </a:p>
          <a:p>
            <a:pPr marL="0" indent="0" algn="l">
              <a:lnSpc>
                <a:spcPct val="96000"/>
              </a:lnSpc>
              <a:buNone/>
            </a:pPr>
            <a:r>
              <a:rPr lang="en-US" sz="15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├── README.md</a:t>
            </a:r>
            <a:endParaRPr lang="en-US" sz="1500" dirty="0"/>
          </a:p>
          <a:p>
            <a:pPr marL="0" indent="0" algn="l">
              <a:lnSpc>
                <a:spcPct val="96000"/>
              </a:lnSpc>
              <a:buNone/>
            </a:pPr>
            <a:r>
              <a:rPr lang="en-US" sz="15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├── todo_project/</a:t>
            </a:r>
            <a:endParaRPr lang="en-US" sz="1500" dirty="0"/>
          </a:p>
          <a:p>
            <a:pPr marL="0" indent="0" algn="l">
              <a:lnSpc>
                <a:spcPct val="96000"/>
              </a:lnSpc>
              <a:buNone/>
            </a:pPr>
            <a:r>
              <a:rPr lang="en-US" sz="15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├── settings.py</a:t>
            </a:r>
            <a:endParaRPr lang="en-US" sz="1500" dirty="0"/>
          </a:p>
          <a:p>
            <a:pPr marL="0" indent="0" algn="l">
              <a:lnSpc>
                <a:spcPct val="96000"/>
              </a:lnSpc>
              <a:buNone/>
            </a:pPr>
            <a:r>
              <a:rPr lang="en-US" sz="15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└── urls.py</a:t>
            </a:r>
            <a:endParaRPr lang="en-US" sz="1500" dirty="0"/>
          </a:p>
          <a:p>
            <a:pPr marL="0" indent="0" algn="l">
              <a:lnSpc>
                <a:spcPct val="96000"/>
              </a:lnSpc>
              <a:buNone/>
            </a:pPr>
            <a:r>
              <a:rPr lang="en-US" sz="15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├── tasks/</a:t>
            </a:r>
            <a:endParaRPr lang="en-US" sz="1500" dirty="0"/>
          </a:p>
          <a:p>
            <a:pPr marL="0" indent="0" algn="l">
              <a:lnSpc>
                <a:spcPct val="96000"/>
              </a:lnSpc>
              <a:buNone/>
            </a:pPr>
            <a:r>
              <a:rPr lang="en-US" sz="15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├── models.py</a:t>
            </a:r>
            <a:endParaRPr lang="en-US" sz="1500" dirty="0"/>
          </a:p>
          <a:p>
            <a:pPr marL="0" indent="0" algn="l">
              <a:lnSpc>
                <a:spcPct val="96000"/>
              </a:lnSpc>
              <a:buNone/>
            </a:pPr>
            <a:r>
              <a:rPr lang="en-US" sz="15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├── forms.py</a:t>
            </a:r>
            <a:endParaRPr lang="en-US" sz="1500" dirty="0"/>
          </a:p>
          <a:p>
            <a:pPr marL="0" indent="0" algn="l">
              <a:lnSpc>
                <a:spcPct val="96000"/>
              </a:lnSpc>
              <a:buNone/>
            </a:pPr>
            <a:r>
              <a:rPr lang="en-US" sz="15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├── services.py</a:t>
            </a:r>
            <a:endParaRPr lang="en-US" sz="1500" dirty="0"/>
          </a:p>
          <a:p>
            <a:pPr marL="0" indent="0" algn="l">
              <a:lnSpc>
                <a:spcPct val="96000"/>
              </a:lnSpc>
              <a:buNone/>
            </a:pPr>
            <a:r>
              <a:rPr lang="en-US" sz="15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├── views.py</a:t>
            </a:r>
            <a:endParaRPr lang="en-US" sz="1500" dirty="0"/>
          </a:p>
          <a:p>
            <a:pPr marL="0" indent="0" algn="l">
              <a:lnSpc>
                <a:spcPct val="96000"/>
              </a:lnSpc>
              <a:buNone/>
            </a:pPr>
            <a:r>
              <a:rPr lang="en-US" sz="15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├── urls.py</a:t>
            </a:r>
            <a:endParaRPr lang="en-US" sz="1500" dirty="0"/>
          </a:p>
          <a:p>
            <a:pPr marL="0" indent="0" algn="l">
              <a:lnSpc>
                <a:spcPct val="96000"/>
              </a:lnSpc>
              <a:buNone/>
            </a:pPr>
            <a:r>
              <a:rPr lang="en-US" sz="15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└── tests.py</a:t>
            </a:r>
            <a:endParaRPr lang="en-US" sz="1500" dirty="0"/>
          </a:p>
          <a:p>
            <a:pPr marL="0" indent="0" algn="l">
              <a:lnSpc>
                <a:spcPct val="96000"/>
              </a:lnSpc>
              <a:buNone/>
            </a:pPr>
            <a:r>
              <a:rPr lang="en-US" sz="15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├── templates/</a:t>
            </a:r>
            <a:endParaRPr lang="en-US" sz="1500" dirty="0"/>
          </a:p>
          <a:p>
            <a:pPr marL="0" indent="0" algn="l">
              <a:lnSpc>
                <a:spcPct val="96000"/>
              </a:lnSpc>
              <a:buNone/>
            </a:pPr>
            <a:r>
              <a:rPr lang="en-US" sz="15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└── static/css/style.css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7375936" y="2850059"/>
            <a:ext cx="4206174" cy="1473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92500"/>
          </a:bodyPr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2000" dirty="0">
                <a:solidFill>
                  <a:srgbClr val="F4EFE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Структура может отличаться в конкретной версии. Документация должна описывать реально существующие файлы.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7375936" y="4499471"/>
            <a:ext cx="1387936" cy="31651"/>
          </a:xfrm>
          <a:prstGeom prst="roundRect">
            <a:avLst>
              <a:gd name="adj" fmla="val 49998"/>
            </a:avLst>
          </a:prstGeom>
          <a:solidFill>
            <a:srgbClr val="F58E84"/>
          </a:solidFill>
          <a:ln/>
        </p:spPr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644186"/>
            <a:ext cx="10972526" cy="356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0000"/>
              </a:lnSpc>
              <a:buNone/>
            </a:pPr>
            <a:r>
              <a:rPr lang="en-US" sz="2600" kern="100" spc="-78" dirty="0">
                <a:solidFill>
                  <a:srgbClr val="F4EFE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Что включить в README.md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609585" y="1184791"/>
            <a:ext cx="5257668" cy="6260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700" dirty="0">
                <a:solidFill>
                  <a:srgbClr val="F4EFE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Название и назначение приложения, список возможностей.</a:t>
            </a:r>
            <a:endParaRPr lang="en-US" sz="1700" dirty="0"/>
          </a:p>
        </p:txBody>
      </p:sp>
      <p:sp>
        <p:nvSpPr>
          <p:cNvPr id="4" name="Text 2"/>
          <p:cNvSpPr/>
          <p:nvPr/>
        </p:nvSpPr>
        <p:spPr>
          <a:xfrm>
            <a:off x="6324442" y="1184791"/>
            <a:ext cx="5257668" cy="3130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700" dirty="0">
                <a:solidFill>
                  <a:srgbClr val="F4EFE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Требования: версия Python и зависимости.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609585" y="2679918"/>
            <a:ext cx="5486263" cy="3130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700" dirty="0">
                <a:solidFill>
                  <a:srgbClr val="F4EFE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Установка виртуального окружения и пакетов.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6324442" y="2679918"/>
            <a:ext cx="5257668" cy="6260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700" dirty="0">
                <a:solidFill>
                  <a:srgbClr val="F4EFE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Миграции, запуск сервера и создание администратора.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609585" y="3946545"/>
            <a:ext cx="5257668" cy="6260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700" dirty="0">
                <a:solidFill>
                  <a:srgbClr val="F4EFE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Команда запуска тестов и описание структуры каталогов.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6324442" y="3946545"/>
            <a:ext cx="5257668" cy="3130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700" dirty="0">
                <a:solidFill>
                  <a:srgbClr val="F4EFE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Известные ограничения и планы развития.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609585" y="5213072"/>
            <a:ext cx="10972526" cy="3130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700" dirty="0">
                <a:solidFill>
                  <a:srgbClr val="F4EFE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Предупреждение </a:t>
            </a:r>
            <a:r>
              <a:rPr lang="en-US" sz="1700" u="sng" dirty="0">
                <a:solidFill>
                  <a:srgbClr val="F4EFE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не публиковать секреты и реальные пароли.</a:t>
            </a:r>
            <a:endParaRPr lang="en-US" sz="1700" dirty="0"/>
          </a:p>
        </p:txBody>
      </p:sp>
      <p:sp>
        <p:nvSpPr>
          <p:cNvPr id="10" name="Shape 8"/>
          <p:cNvSpPr/>
          <p:nvPr/>
        </p:nvSpPr>
        <p:spPr>
          <a:xfrm>
            <a:off x="6089498" y="1182092"/>
            <a:ext cx="12700" cy="1266527"/>
          </a:xfrm>
          <a:prstGeom prst="rect">
            <a:avLst/>
          </a:prstGeom>
          <a:solidFill>
            <a:srgbClr val="2F6B61"/>
          </a:solidFill>
          <a:ln/>
        </p:spPr>
      </p:sp>
      <p:sp>
        <p:nvSpPr>
          <p:cNvPr id="11" name="Shape 9"/>
          <p:cNvSpPr/>
          <p:nvPr/>
        </p:nvSpPr>
        <p:spPr>
          <a:xfrm>
            <a:off x="609585" y="2442270"/>
            <a:ext cx="5486263" cy="12700"/>
          </a:xfrm>
          <a:prstGeom prst="rect">
            <a:avLst/>
          </a:prstGeom>
          <a:solidFill>
            <a:srgbClr val="2F6B61"/>
          </a:solidFill>
          <a:ln/>
        </p:spPr>
      </p:sp>
      <p:sp>
        <p:nvSpPr>
          <p:cNvPr id="12" name="Shape 10"/>
          <p:cNvSpPr/>
          <p:nvPr/>
        </p:nvSpPr>
        <p:spPr>
          <a:xfrm>
            <a:off x="6089498" y="2448620"/>
            <a:ext cx="12700" cy="1266627"/>
          </a:xfrm>
          <a:prstGeom prst="rect">
            <a:avLst/>
          </a:prstGeom>
          <a:solidFill>
            <a:srgbClr val="2F6B61"/>
          </a:solidFill>
          <a:ln/>
        </p:spPr>
      </p:sp>
      <p:sp>
        <p:nvSpPr>
          <p:cNvPr id="13" name="Shape 11"/>
          <p:cNvSpPr/>
          <p:nvPr/>
        </p:nvSpPr>
        <p:spPr>
          <a:xfrm>
            <a:off x="6095848" y="2442270"/>
            <a:ext cx="5486263" cy="12700"/>
          </a:xfrm>
          <a:prstGeom prst="rect">
            <a:avLst/>
          </a:prstGeom>
          <a:solidFill>
            <a:srgbClr val="2F6B61"/>
          </a:solidFill>
          <a:ln/>
        </p:spPr>
      </p:sp>
      <p:sp>
        <p:nvSpPr>
          <p:cNvPr id="14" name="Shape 12"/>
          <p:cNvSpPr/>
          <p:nvPr/>
        </p:nvSpPr>
        <p:spPr>
          <a:xfrm>
            <a:off x="609585" y="3708896"/>
            <a:ext cx="5486263" cy="12700"/>
          </a:xfrm>
          <a:prstGeom prst="rect">
            <a:avLst/>
          </a:prstGeom>
          <a:solidFill>
            <a:srgbClr val="2F6B61"/>
          </a:solidFill>
          <a:ln/>
        </p:spPr>
      </p:sp>
      <p:sp>
        <p:nvSpPr>
          <p:cNvPr id="15" name="Shape 13"/>
          <p:cNvSpPr/>
          <p:nvPr/>
        </p:nvSpPr>
        <p:spPr>
          <a:xfrm>
            <a:off x="6089498" y="3715246"/>
            <a:ext cx="12700" cy="1266527"/>
          </a:xfrm>
          <a:prstGeom prst="rect">
            <a:avLst/>
          </a:prstGeom>
          <a:solidFill>
            <a:srgbClr val="2F6B61"/>
          </a:solidFill>
          <a:ln/>
        </p:spPr>
      </p:sp>
      <p:sp>
        <p:nvSpPr>
          <p:cNvPr id="16" name="Shape 14"/>
          <p:cNvSpPr/>
          <p:nvPr/>
        </p:nvSpPr>
        <p:spPr>
          <a:xfrm>
            <a:off x="6095848" y="3708896"/>
            <a:ext cx="5486263" cy="12700"/>
          </a:xfrm>
          <a:prstGeom prst="rect">
            <a:avLst/>
          </a:prstGeom>
          <a:solidFill>
            <a:srgbClr val="2F6B61"/>
          </a:solidFill>
          <a:ln/>
        </p:spPr>
      </p:sp>
      <p:sp>
        <p:nvSpPr>
          <p:cNvPr id="17" name="Shape 15"/>
          <p:cNvSpPr/>
          <p:nvPr/>
        </p:nvSpPr>
        <p:spPr>
          <a:xfrm>
            <a:off x="609585" y="4975423"/>
            <a:ext cx="10972526" cy="12700"/>
          </a:xfrm>
          <a:prstGeom prst="rect">
            <a:avLst/>
          </a:prstGeom>
          <a:solidFill>
            <a:srgbClr val="2F6B61"/>
          </a:solidFill>
          <a:ln/>
        </p:spPr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DED3C522-516F-4237-B4E5-5DAB67823EC4}"/>
              </a:ext>
            </a:extLst>
          </p:cNvPr>
          <p:cNvSpPr txBox="1"/>
          <p:nvPr/>
        </p:nvSpPr>
        <p:spPr>
          <a:xfrm>
            <a:off x="421547" y="599540"/>
            <a:ext cx="8068112" cy="41693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Bef>
                <a:spcPts val="1000"/>
              </a:spcBef>
            </a:pPr>
            <a:r>
              <a:rPr lang="en-US" sz="4000" b="1" dirty="0">
                <a:solidFill>
                  <a:schemeClr val="bg1"/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UML и </a:t>
            </a:r>
            <a:r>
              <a:rPr lang="en-US" sz="4000" b="1" dirty="0" err="1">
                <a:solidFill>
                  <a:schemeClr val="bg1"/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документация</a:t>
            </a:r>
            <a:endParaRPr lang="ru-RU" sz="4000" b="1" dirty="0">
              <a:solidFill>
                <a:schemeClr val="bg1"/>
              </a:solidFill>
              <a:effectLst/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  <a:p>
            <a:pPr marL="342900" lvl="0" indent="-342900">
              <a:lnSpc>
                <a:spcPct val="115000"/>
              </a:lnSpc>
              <a:buFont typeface="Symbol" panose="05050102010706020507" pitchFamily="18" charset="2"/>
              <a:buChar char=""/>
              <a:tabLst>
                <a:tab pos="228600" algn="l"/>
              </a:tabLst>
            </a:pPr>
            <a:r>
              <a:rPr lang="en-US" sz="2400" dirty="0" err="1">
                <a:solidFill>
                  <a:schemeClr val="bg1"/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Диаграмма</a:t>
            </a:r>
            <a:r>
              <a:rPr lang="en-US" sz="2400" dirty="0">
                <a:solidFill>
                  <a:schemeClr val="bg1"/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US" sz="2400" dirty="0" err="1">
                <a:solidFill>
                  <a:schemeClr val="bg1"/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классов</a:t>
            </a:r>
            <a:r>
              <a:rPr lang="en-US" sz="2400" dirty="0">
                <a:solidFill>
                  <a:schemeClr val="bg1"/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: User, Task, Category и </a:t>
            </a:r>
            <a:r>
              <a:rPr lang="en-US" sz="2400" dirty="0" err="1">
                <a:solidFill>
                  <a:schemeClr val="bg1"/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существующие</a:t>
            </a:r>
            <a:r>
              <a:rPr lang="en-US" sz="2400" dirty="0">
                <a:solidFill>
                  <a:schemeClr val="bg1"/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US" sz="2400" dirty="0" err="1">
                <a:solidFill>
                  <a:schemeClr val="bg1"/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связи</a:t>
            </a:r>
            <a:r>
              <a:rPr lang="en-US" sz="2400" dirty="0">
                <a:solidFill>
                  <a:schemeClr val="bg1"/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.</a:t>
            </a:r>
            <a:endParaRPr lang="ru-RU" sz="2400" dirty="0">
              <a:solidFill>
                <a:schemeClr val="bg1"/>
              </a:solidFill>
              <a:effectLst/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  <a:p>
            <a:pPr marL="342900" lvl="0" indent="-342900">
              <a:lnSpc>
                <a:spcPct val="115000"/>
              </a:lnSpc>
              <a:buFont typeface="Symbol" panose="05050102010706020507" pitchFamily="18" charset="2"/>
              <a:buChar char=""/>
              <a:tabLst>
                <a:tab pos="228600" algn="l"/>
              </a:tabLst>
            </a:pPr>
            <a:r>
              <a:rPr lang="en-US" sz="2400" dirty="0" err="1">
                <a:solidFill>
                  <a:schemeClr val="bg1"/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Диаграмма</a:t>
            </a:r>
            <a:r>
              <a:rPr lang="en-US" sz="2400" dirty="0">
                <a:solidFill>
                  <a:schemeClr val="bg1"/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US" sz="2400" dirty="0" err="1">
                <a:solidFill>
                  <a:schemeClr val="bg1"/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вариантов</a:t>
            </a:r>
            <a:r>
              <a:rPr lang="en-US" sz="2400" dirty="0">
                <a:solidFill>
                  <a:schemeClr val="bg1"/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US" sz="2400" dirty="0" err="1">
                <a:solidFill>
                  <a:schemeClr val="bg1"/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использования</a:t>
            </a:r>
            <a:r>
              <a:rPr lang="en-US" sz="2400" dirty="0">
                <a:solidFill>
                  <a:schemeClr val="bg1"/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: </a:t>
            </a:r>
            <a:r>
              <a:rPr lang="en-US" sz="2400" dirty="0" err="1">
                <a:solidFill>
                  <a:schemeClr val="bg1"/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гость</a:t>
            </a:r>
            <a:r>
              <a:rPr lang="en-US" sz="2400" dirty="0">
                <a:solidFill>
                  <a:schemeClr val="bg1"/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, </a:t>
            </a:r>
            <a:r>
              <a:rPr lang="en-US" sz="2400" dirty="0" err="1">
                <a:solidFill>
                  <a:schemeClr val="bg1"/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пользователь</a:t>
            </a:r>
            <a:r>
              <a:rPr lang="en-US" sz="2400" dirty="0">
                <a:solidFill>
                  <a:schemeClr val="bg1"/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, </a:t>
            </a:r>
            <a:r>
              <a:rPr lang="en-US" sz="2400" dirty="0" err="1">
                <a:solidFill>
                  <a:schemeClr val="bg1"/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администратор</a:t>
            </a:r>
            <a:r>
              <a:rPr lang="en-US" sz="2400" dirty="0">
                <a:solidFill>
                  <a:schemeClr val="bg1"/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.</a:t>
            </a:r>
            <a:endParaRPr lang="ru-RU" sz="2400" dirty="0">
              <a:solidFill>
                <a:schemeClr val="bg1"/>
              </a:solidFill>
              <a:effectLst/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  <a:p>
            <a:pPr marL="342900" lvl="0" indent="-342900">
              <a:lnSpc>
                <a:spcPct val="115000"/>
              </a:lnSpc>
              <a:buFont typeface="Symbol" panose="05050102010706020507" pitchFamily="18" charset="2"/>
              <a:buChar char=""/>
              <a:tabLst>
                <a:tab pos="228600" algn="l"/>
              </a:tabLst>
            </a:pPr>
            <a:r>
              <a:rPr lang="en-US" sz="2400" dirty="0" err="1">
                <a:solidFill>
                  <a:schemeClr val="bg1"/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Диаграмма</a:t>
            </a:r>
            <a:r>
              <a:rPr lang="en-US" sz="2400" dirty="0">
                <a:solidFill>
                  <a:schemeClr val="bg1"/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US" sz="2400" dirty="0" err="1">
                <a:solidFill>
                  <a:schemeClr val="bg1"/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последовательности</a:t>
            </a:r>
            <a:r>
              <a:rPr lang="en-US" sz="2400" dirty="0">
                <a:solidFill>
                  <a:schemeClr val="bg1"/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: </a:t>
            </a:r>
            <a:r>
              <a:rPr lang="en-US" sz="2400" dirty="0" err="1">
                <a:solidFill>
                  <a:schemeClr val="bg1"/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браузер</a:t>
            </a:r>
            <a:r>
              <a:rPr lang="en-US" sz="2400" dirty="0">
                <a:solidFill>
                  <a:schemeClr val="bg1"/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→ URL/view → </a:t>
            </a:r>
            <a:r>
              <a:rPr lang="en-US" sz="2400" dirty="0" err="1">
                <a:solidFill>
                  <a:schemeClr val="bg1"/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форма</a:t>
            </a:r>
            <a:r>
              <a:rPr lang="en-US" sz="2400" dirty="0">
                <a:solidFill>
                  <a:schemeClr val="bg1"/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/</a:t>
            </a:r>
            <a:r>
              <a:rPr lang="en-US" sz="2400" dirty="0" err="1">
                <a:solidFill>
                  <a:schemeClr val="bg1"/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сервис</a:t>
            </a:r>
            <a:r>
              <a:rPr lang="en-US" sz="2400" dirty="0">
                <a:solidFill>
                  <a:schemeClr val="bg1"/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→ </a:t>
            </a:r>
            <a:r>
              <a:rPr lang="en-US" sz="2400" dirty="0" err="1">
                <a:solidFill>
                  <a:schemeClr val="bg1"/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модель</a:t>
            </a:r>
            <a:r>
              <a:rPr lang="en-US" sz="2400" dirty="0">
                <a:solidFill>
                  <a:schemeClr val="bg1"/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/БД → </a:t>
            </a:r>
            <a:r>
              <a:rPr lang="en-US" sz="2400" dirty="0" err="1">
                <a:solidFill>
                  <a:schemeClr val="bg1"/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ответ</a:t>
            </a:r>
            <a:r>
              <a:rPr lang="en-US" sz="2400" dirty="0">
                <a:solidFill>
                  <a:schemeClr val="bg1"/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.</a:t>
            </a:r>
            <a:endParaRPr lang="ru-RU" sz="2400" dirty="0">
              <a:solidFill>
                <a:schemeClr val="bg1"/>
              </a:solidFill>
              <a:effectLst/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  <a:p>
            <a:pPr marL="342900" lvl="0" indent="-342900">
              <a:lnSpc>
                <a:spcPct val="115000"/>
              </a:lnSpc>
              <a:spcAft>
                <a:spcPts val="1000"/>
              </a:spcAft>
              <a:buFont typeface="Symbol" panose="05050102010706020507" pitchFamily="18" charset="2"/>
              <a:buChar char=""/>
              <a:tabLst>
                <a:tab pos="228600" algn="l"/>
              </a:tabLst>
            </a:pPr>
            <a:r>
              <a:rPr lang="en-US" sz="2400" dirty="0" err="1">
                <a:solidFill>
                  <a:schemeClr val="bg1"/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Диаграмма</a:t>
            </a:r>
            <a:r>
              <a:rPr lang="en-US" sz="2400" dirty="0">
                <a:solidFill>
                  <a:schemeClr val="bg1"/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US" sz="2400" dirty="0" err="1">
                <a:solidFill>
                  <a:schemeClr val="bg1"/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деятельности</a:t>
            </a:r>
            <a:r>
              <a:rPr lang="en-US" sz="2400" dirty="0">
                <a:solidFill>
                  <a:schemeClr val="bg1"/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: </a:t>
            </a:r>
            <a:r>
              <a:rPr lang="en-US" sz="2400" dirty="0" err="1">
                <a:solidFill>
                  <a:schemeClr val="bg1"/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заполнение</a:t>
            </a:r>
            <a:r>
              <a:rPr lang="en-US" sz="2400" dirty="0">
                <a:solidFill>
                  <a:schemeClr val="bg1"/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US" sz="2400" dirty="0" err="1">
                <a:solidFill>
                  <a:schemeClr val="bg1"/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формы</a:t>
            </a:r>
            <a:r>
              <a:rPr lang="en-US" sz="2400" dirty="0">
                <a:solidFill>
                  <a:schemeClr val="bg1"/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→ </a:t>
            </a:r>
            <a:r>
              <a:rPr lang="en-US" sz="2400" dirty="0" err="1">
                <a:solidFill>
                  <a:schemeClr val="bg1"/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проверка</a:t>
            </a:r>
            <a:r>
              <a:rPr lang="en-US" sz="2400" dirty="0">
                <a:solidFill>
                  <a:schemeClr val="bg1"/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→ </a:t>
            </a:r>
            <a:r>
              <a:rPr lang="en-US" sz="2400" dirty="0" err="1">
                <a:solidFill>
                  <a:schemeClr val="bg1"/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сохранение</a:t>
            </a:r>
            <a:r>
              <a:rPr lang="en-US" sz="2400" dirty="0">
                <a:solidFill>
                  <a:schemeClr val="bg1"/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US" sz="2400" dirty="0" err="1">
                <a:solidFill>
                  <a:schemeClr val="bg1"/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или</a:t>
            </a:r>
            <a:r>
              <a:rPr lang="en-US" sz="2400" dirty="0">
                <a:solidFill>
                  <a:schemeClr val="bg1"/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US" sz="2400" dirty="0" err="1">
                <a:solidFill>
                  <a:schemeClr val="bg1"/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показ</a:t>
            </a:r>
            <a:r>
              <a:rPr lang="en-US" sz="2400" dirty="0">
                <a:solidFill>
                  <a:schemeClr val="bg1"/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US" sz="2400" dirty="0" err="1">
                <a:solidFill>
                  <a:schemeClr val="bg1"/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ошибки</a:t>
            </a:r>
            <a:r>
              <a:rPr lang="en-US" sz="2400" dirty="0">
                <a:solidFill>
                  <a:schemeClr val="bg1"/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.</a:t>
            </a:r>
            <a:endParaRPr lang="ru-RU" sz="2400" dirty="0">
              <a:solidFill>
                <a:schemeClr val="bg1"/>
              </a:solidFill>
              <a:effectLst/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116472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573</Words>
  <Application>Microsoft Office PowerPoint</Application>
  <PresentationFormat>Широкоэкранный</PresentationFormat>
  <Paragraphs>78</Paragraphs>
  <Slides>12</Slides>
  <Notes>10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6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12</vt:i4>
      </vt:variant>
    </vt:vector>
  </HeadingPairs>
  <TitlesOfParts>
    <vt:vector size="19" baseType="lpstr">
      <vt:lpstr>Symbol</vt:lpstr>
      <vt:lpstr>Arial</vt:lpstr>
      <vt:lpstr>Noto Sans</vt:lpstr>
      <vt:lpstr>Consolas</vt:lpstr>
      <vt:lpstr>Open Sans</vt:lpstr>
      <vt:lpstr>Calibri</vt:lpstr>
      <vt:lpstr>Office Theme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subject/>
  <dc:creator>sigma</dc:creator>
  <cp:lastModifiedBy>Егор Сидоренко</cp:lastModifiedBy>
  <cp:revision>2</cp:revision>
  <dcterms:created xsi:type="dcterms:W3CDTF">2026-10-14T05:38:13Z</dcterms:created>
  <dcterms:modified xsi:type="dcterms:W3CDTF">2026-10-14T05:43:24Z</dcterms:modified>
</cp:coreProperties>
</file>