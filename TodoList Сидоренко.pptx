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Fira Mono" panose="020B0509050000020004" pitchFamily="49" charset="0"/>
      <p:regular r:id="rId23"/>
      <p:bold r:id="rId24"/>
    </p:embeddedFont>
    <p:embeddedFont>
      <p:font typeface="Fira Mono Bold" panose="020B0809050000020004" charset="0"/>
      <p:regular r:id="rId25"/>
    </p:embeddedFont>
    <p:embeddedFont>
      <p:font typeface="Fira Mono Medium" panose="020B0609050000020004" pitchFamily="49" charset="0"/>
      <p:regular r:id="rId26"/>
    </p:embeddedFont>
    <p:embeddedFont>
      <p:font typeface="Noto Sans" panose="020B0502040504020204" pitchFamily="34" charset="0"/>
      <p:regular r:id="rId27"/>
      <p:bold r:id="rId28"/>
      <p:italic r:id="rId29"/>
      <p:boldItalic r:id="rId30"/>
    </p:embeddedFont>
    <p:embeddedFont>
      <p:font typeface="Noto Sans ExtraBold" panose="020B0604020202020204" charset="0"/>
      <p:regular r:id="rId31"/>
    </p:embeddedFont>
    <p:embeddedFont>
      <p:font typeface="Noto Sans Medium" panose="020B0604020202020204" charset="0"/>
      <p:regular r:id="rId32"/>
    </p:embeddedFont>
    <p:embeddedFont>
      <p:font typeface="Noto Sans SemiBold" panose="020B0604020202020204" charset="0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11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86991"/>
            <a:ext cx="670543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Python · Django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854056"/>
            <a:ext cx="6324442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72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TodoList: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72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архитектура,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72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безопасность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72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и QA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4597896"/>
            <a:ext cx="1581110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5053509"/>
            <a:ext cx="63244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Учебный проект на Python и Django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413" y="508000"/>
            <a:ext cx="4216295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F41D05-5DE4-4326-8EA4-D430C5D93F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91406" y="2699158"/>
            <a:ext cx="6627443" cy="3022944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2D2B8-464B-4431-A6F3-B60D60792A2B}"/>
              </a:ext>
            </a:extLst>
          </p:cNvPr>
          <p:cNvSpPr txBox="1"/>
          <p:nvPr/>
        </p:nvSpPr>
        <p:spPr>
          <a:xfrm>
            <a:off x="941664" y="963435"/>
            <a:ext cx="107777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Noto Sans ExtraBold" panose="020B0604020202020204" charset="0"/>
                <a:ea typeface="Noto Sans ExtraBold" panose="020B0604020202020204" charset="0"/>
                <a:cs typeface="Noto Sans ExtraBold" panose="020B060402020202020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Noto Sans ExtraBold" panose="020B0604020202020204" charset="0"/>
                <a:ea typeface="Noto Sans ExtraBold" panose="020B0604020202020204" charset="0"/>
                <a:cs typeface="Noto Sans ExtraBold" panose="020B0604020202020204" charset="0"/>
              </a:rPr>
              <a:t>Архитектор ядра: классы, наследование, полиморфизм</a:t>
            </a:r>
          </a:p>
          <a:p>
            <a:r>
              <a:rPr lang="ru-RU" sz="2000" dirty="0">
                <a:solidFill>
                  <a:schemeClr val="bg1"/>
                </a:solidFill>
                <a:latin typeface="Noto Sans ExtraBold" panose="020B0604020202020204" charset="0"/>
                <a:ea typeface="Noto Sans ExtraBold" panose="020B0604020202020204" charset="0"/>
                <a:cs typeface="Noto Sans ExtraBold" panose="020B0604020202020204" charset="0"/>
              </a:rPr>
              <a:t>Задача архитектора — организовать код так, чтобы его было легко понимать, расширять и тестировать. В </a:t>
            </a:r>
            <a:r>
              <a:rPr lang="ru-RU" sz="2000" dirty="0" err="1">
                <a:solidFill>
                  <a:schemeClr val="bg1"/>
                </a:solidFill>
                <a:latin typeface="Noto Sans ExtraBold" panose="020B0604020202020204" charset="0"/>
                <a:ea typeface="Noto Sans ExtraBold" panose="020B0604020202020204" charset="0"/>
                <a:cs typeface="Noto Sans ExtraBold" panose="020B0604020202020204" charset="0"/>
              </a:rPr>
              <a:t>Django</a:t>
            </a:r>
            <a:r>
              <a:rPr lang="ru-RU" sz="2000" dirty="0">
                <a:solidFill>
                  <a:schemeClr val="bg1"/>
                </a:solidFill>
                <a:latin typeface="Noto Sans ExtraBold" panose="020B0604020202020204" charset="0"/>
                <a:ea typeface="Noto Sans ExtraBold" panose="020B0604020202020204" charset="0"/>
                <a:cs typeface="Noto Sans ExtraBold" panose="020B0604020202020204" charset="0"/>
              </a:rPr>
              <a:t> ответственность разделяется между моделями, формами, представлениями, сервисами и маршрутами.</a:t>
            </a:r>
          </a:p>
        </p:txBody>
      </p:sp>
    </p:spTree>
    <p:extLst>
      <p:ext uri="{BB962C8B-B14F-4D97-AF65-F5344CB8AC3E}">
        <p14:creationId xmlns:p14="http://schemas.microsoft.com/office/powerpoint/2010/main" val="23424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2FA496-F0F9-4563-8E35-A385680D9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6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57200"/>
            <a:ext cx="3047924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697" y="511551"/>
            <a:ext cx="7619809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Код разделён по ролям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114697" y="1134070"/>
            <a:ext cx="3657509" cy="2480965"/>
          </a:xfrm>
          <a:prstGeom prst="roundRect">
            <a:avLst>
              <a:gd name="adj" fmla="val 4914"/>
            </a:avLst>
          </a:prstGeom>
          <a:solidFill>
            <a:srgbClr val="F7FAF4"/>
          </a:solidFill>
          <a:ln/>
        </p:spPr>
      </p:sp>
      <p:sp>
        <p:nvSpPr>
          <p:cNvPr id="5" name="Text 2"/>
          <p:cNvSpPr/>
          <p:nvPr/>
        </p:nvSpPr>
        <p:spPr>
          <a:xfrm>
            <a:off x="4343291" y="1375370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3B2E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models.py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43291" y="1849080"/>
            <a:ext cx="320032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F3B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Сущности и связи, например Task и Category.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76998" y="1134070"/>
            <a:ext cx="3657509" cy="2480965"/>
          </a:xfrm>
          <a:prstGeom prst="roundRect">
            <a:avLst>
              <a:gd name="adj" fmla="val 4914"/>
            </a:avLst>
          </a:prstGeom>
          <a:solidFill>
            <a:srgbClr val="F7FAF4"/>
          </a:solidFill>
          <a:ln/>
        </p:spPr>
      </p:sp>
      <p:sp>
        <p:nvSpPr>
          <p:cNvPr id="8" name="Text 5"/>
          <p:cNvSpPr/>
          <p:nvPr/>
        </p:nvSpPr>
        <p:spPr>
          <a:xfrm>
            <a:off x="8305592" y="1375370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3B2E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forms.py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05592" y="1849080"/>
            <a:ext cx="320032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F3B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 пользовательского ввода.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14697" y="3919835"/>
            <a:ext cx="3657509" cy="2480965"/>
          </a:xfrm>
          <a:prstGeom prst="roundRect">
            <a:avLst>
              <a:gd name="adj" fmla="val 4914"/>
            </a:avLst>
          </a:prstGeom>
          <a:solidFill>
            <a:srgbClr val="F7FAF4"/>
          </a:solidFill>
          <a:ln/>
        </p:spPr>
      </p:sp>
      <p:sp>
        <p:nvSpPr>
          <p:cNvPr id="11" name="Text 8"/>
          <p:cNvSpPr/>
          <p:nvPr/>
        </p:nvSpPr>
        <p:spPr>
          <a:xfrm>
            <a:off x="4343291" y="4161135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3B2E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services.py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343291" y="4634845"/>
            <a:ext cx="320032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F3B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Повторно используемая бизнес-логика.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76998" y="3919835"/>
            <a:ext cx="3657509" cy="2480965"/>
          </a:xfrm>
          <a:prstGeom prst="roundRect">
            <a:avLst>
              <a:gd name="adj" fmla="val 4914"/>
            </a:avLst>
          </a:prstGeom>
          <a:solidFill>
            <a:srgbClr val="F7FAF4"/>
          </a:solidFill>
          <a:ln/>
        </p:spPr>
      </p:sp>
      <p:sp>
        <p:nvSpPr>
          <p:cNvPr id="14" name="Text 11"/>
          <p:cNvSpPr/>
          <p:nvPr/>
        </p:nvSpPr>
        <p:spPr>
          <a:xfrm>
            <a:off x="8305592" y="4161135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3B2E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views.py · urls.py · tests.py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05592" y="4634845"/>
            <a:ext cx="320032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F3B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Обработка HTTP-запросов; маршруты; проверки.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551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Наследование даёт модели возможности 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932781"/>
            <a:ext cx="871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189" y="2252861"/>
            <a:ext cx="5410065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429034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models.Model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189" y="2961422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Модель наследуется от models.Model.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4442" y="1932781"/>
            <a:ext cx="871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2" y="2252861"/>
            <a:ext cx="5410065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2429034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Task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24442" y="2948087"/>
            <a:ext cx="5410065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 Task(models.Model):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title — CharField, max_length=200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is_completed — BooleanField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__str__ возвращает название.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189" y="5520829"/>
            <a:ext cx="11277318" cy="880070"/>
          </a:xfrm>
          <a:prstGeom prst="roundRect">
            <a:avLst>
              <a:gd name="adj" fmla="val 10909"/>
            </a:avLst>
          </a:prstGeom>
          <a:solidFill>
            <a:srgbClr val="596D1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783" y="5819914"/>
            <a:ext cx="114297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Имена полей нужно сверить с реальной моделью проекта.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551"/>
            <a:ext cx="1127731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Полиморфизм: один метод, разные реализации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1627426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Базовый класс </a:t>
            </a:r>
            <a:r>
              <a:rPr lang="en-US" sz="1800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с методом </a:t>
            </a:r>
            <a:r>
              <a:rPr lang="en-US" sz="1800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189" y="2730897"/>
            <a:ext cx="5410065" cy="1981696"/>
          </a:xfrm>
          <a:prstGeom prst="roundRect">
            <a:avLst>
              <a:gd name="adj" fmla="val 6152"/>
            </a:avLst>
          </a:prstGeom>
          <a:solidFill>
            <a:srgbClr val="0F3B2E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3106499"/>
            <a:ext cx="46988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ConsoleNotification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780" y="3625552"/>
            <a:ext cx="469888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Переопределяет метод базового класса.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4442" y="2730897"/>
            <a:ext cx="5410065" cy="1981696"/>
          </a:xfrm>
          <a:prstGeom prst="roundRect">
            <a:avLst>
              <a:gd name="adj" fmla="val 6152"/>
            </a:avLst>
          </a:prstGeom>
          <a:solidFill>
            <a:srgbClr val="0F3B2E"/>
          </a:solidFill>
          <a:ln/>
        </p:spPr>
      </p:sp>
      <p:sp>
        <p:nvSpPr>
          <p:cNvPr id="8" name="Text 6"/>
          <p:cNvSpPr/>
          <p:nvPr/>
        </p:nvSpPr>
        <p:spPr>
          <a:xfrm>
            <a:off x="6680033" y="3106499"/>
            <a:ext cx="46988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EmailNotification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80033" y="3625552"/>
            <a:ext cx="469888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Переопределяет метод базового класса.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189" y="5520829"/>
            <a:ext cx="11277318" cy="880070"/>
          </a:xfrm>
          <a:prstGeom prst="roundRect">
            <a:avLst>
              <a:gd name="adj" fmla="val 10909"/>
            </a:avLst>
          </a:prstGeom>
          <a:solidFill>
            <a:srgbClr val="596D13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5819914"/>
            <a:ext cx="114297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Это учебная иллюстрация ООП, а не реализованная функция TodoList.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551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Шесть угроз, шесть мер защиты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134070"/>
            <a:ext cx="8046539" cy="5266730"/>
          </a:xfrm>
          <a:prstGeom prst="roundRect">
            <a:avLst>
              <a:gd name="adj" fmla="val 2315"/>
            </a:avLst>
          </a:prstGeom>
          <a:solidFill>
            <a:srgbClr val="1E4F40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783" y="1311870"/>
          <a:ext cx="7589350" cy="4376231"/>
        </p:xfrm>
        <a:graphic>
          <a:graphicData uri="http://schemas.openxmlformats.org/drawingml/2006/table">
            <a:tbl>
              <a:tblPr/>
              <a:tblGrid>
                <a:gridCol w="2428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Угроза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Мера защиты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Доступ к чужим задачам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Фильтрация по текущему пользователю на сервере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Некорректные данные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Django Forms, обязательные поля, ограничения длины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9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XSS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Автоэкранирование шаблонов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9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CSRF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CSRF middleware и {% csrf_token %}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9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SQL injection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Django ORM и параметризованные запросы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99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Утечка секретов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Переменные окружения, не публиковать SECRET_KEY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6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420" y="1134070"/>
            <a:ext cx="2926086" cy="526673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252146"/>
            <a:ext cx="1127731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Валидация: название задачи не может быть пустым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3354685"/>
            <a:ext cx="5410065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clean_title()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Django-форме убирает пробелы по краям.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24442" y="3354685"/>
            <a:ext cx="5410065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ValidationError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Пустое название вызывает ValidationError: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24442" y="4283928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«Введите название задачи.»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141021"/>
            <a:ext cx="1127731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Права проверяются на сервере,</a:t>
            </a:r>
            <a:endParaRPr lang="en-US" sz="36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а не в интерфейсе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3243560"/>
            <a:ext cx="11277318" cy="794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Task.objects.get(pk=task_id, owner=request.user)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Работает, если у модели есть поле owner.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4395053"/>
            <a:ext cx="1127731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Скрыть кнопку в интерфейсе недостаточно.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551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Закон: авторизации недостаточно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975941"/>
            <a:ext cx="5410065" cy="3009007"/>
          </a:xfrm>
          <a:prstGeom prst="roundRect">
            <a:avLst>
              <a:gd name="adj" fmla="val 4052"/>
            </a:avLst>
          </a:prstGeom>
          <a:solidFill>
            <a:srgbClr val="0F3B2E"/>
          </a:solidFill>
          <a:ln/>
        </p:spPr>
      </p:sp>
      <p:sp>
        <p:nvSpPr>
          <p:cNvPr id="4" name="Text 2"/>
          <p:cNvSpPr/>
          <p:nvPr/>
        </p:nvSpPr>
        <p:spPr>
          <a:xfrm>
            <a:off x="812780" y="2351544"/>
            <a:ext cx="46988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152-ФЗ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780" y="2883932"/>
            <a:ext cx="469888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Может применяться к данным граждан РФ.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80" y="3602038"/>
            <a:ext cx="4698882" cy="1027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Определить цели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Минимизировать данные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Ограничить доступ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4442" y="1975941"/>
            <a:ext cx="5410065" cy="3009007"/>
          </a:xfrm>
          <a:prstGeom prst="roundRect">
            <a:avLst>
              <a:gd name="adj" fmla="val 4052"/>
            </a:avLst>
          </a:prstGeom>
          <a:solidFill>
            <a:srgbClr val="0F3B2E"/>
          </a:solidFill>
          <a:ln/>
        </p:spPr>
      </p:sp>
      <p:sp>
        <p:nvSpPr>
          <p:cNvPr id="8" name="Text 6"/>
          <p:cNvSpPr/>
          <p:nvPr/>
        </p:nvSpPr>
        <p:spPr>
          <a:xfrm>
            <a:off x="6680033" y="2351544"/>
            <a:ext cx="46988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GDPR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80033" y="2883932"/>
            <a:ext cx="469888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Применим в рамках своей территориальной и предметной сферы.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189" y="6034147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06751"/>
            <a:ext cx="7619809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Пять уровней тестирования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880070"/>
            <a:ext cx="355591" cy="355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5176" y="841970"/>
            <a:ext cx="71118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Функциональные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65176" y="1312108"/>
            <a:ext cx="71118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Создание, редактирование, завершение, удаление задачи.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2085777"/>
            <a:ext cx="355591" cy="355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176" y="2047676"/>
            <a:ext cx="71118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Модели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65176" y="2517815"/>
            <a:ext cx="71118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Обязательные поля, значения по умолчанию, связи.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3291483"/>
            <a:ext cx="355591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176" y="3253383"/>
            <a:ext cx="71118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Интеграционные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65176" y="3723521"/>
            <a:ext cx="71118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URL, views, формы, база данных.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89" y="4497189"/>
            <a:ext cx="355591" cy="355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5176" y="4459089"/>
            <a:ext cx="71118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Безопасность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965176" y="4929227"/>
            <a:ext cx="71118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Анонимный пользователь и чужая задача.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89" y="5702995"/>
            <a:ext cx="355591" cy="355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5176" y="5664894"/>
            <a:ext cx="71118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Ручные UI-проверки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965176" y="6135033"/>
            <a:ext cx="71118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Ошибки, навигация, размеры экрана.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583" y="457200"/>
            <a:ext cx="3047924" cy="5943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57189" y="1800027"/>
            <a:ext cx="7619809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0" name="Shape 12"/>
          <p:cNvSpPr/>
          <p:nvPr/>
        </p:nvSpPr>
        <p:spPr>
          <a:xfrm>
            <a:off x="457189" y="3005733"/>
            <a:ext cx="7619809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1" name="Shape 13"/>
          <p:cNvSpPr/>
          <p:nvPr/>
        </p:nvSpPr>
        <p:spPr>
          <a:xfrm>
            <a:off x="457189" y="4211439"/>
            <a:ext cx="7619809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2" name="Shape 14"/>
          <p:cNvSpPr/>
          <p:nvPr/>
        </p:nvSpPr>
        <p:spPr>
          <a:xfrm>
            <a:off x="457189" y="5417245"/>
            <a:ext cx="7619809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3" name="Text 15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11551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Пример теста: список задач требует входа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845965"/>
            <a:ext cx="6492117" cy="2766020"/>
          </a:xfrm>
          <a:prstGeom prst="roundRect">
            <a:avLst>
              <a:gd name="adj" fmla="val 4408"/>
            </a:avLst>
          </a:prstGeom>
          <a:solidFill>
            <a:srgbClr val="0F3B2E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246967"/>
            <a:ext cx="573013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TaskAccessTests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179" y="2766020"/>
            <a:ext cx="5730136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task_list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Проверяет, что ответ на 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</a:t>
            </a: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имеет статус 302 или 403.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06395" y="2142827"/>
            <a:ext cx="432811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b="1" kern="100" spc="-128" dirty="0">
                <a:solidFill>
                  <a:srgbClr val="C5E35A"/>
                </a:solidFill>
                <a:latin typeface="Fira Mono Bold" pitchFamily="34" charset="0"/>
                <a:ea typeface="Fira Mono Bold" pitchFamily="34" charset="-122"/>
                <a:cs typeface="Fira Mono Bold" pitchFamily="34" charset="-120"/>
              </a:rPr>
              <a:t>302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406395" y="3097550"/>
            <a:ext cx="432811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или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06395" y="3638848"/>
            <a:ext cx="432811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b="1" kern="100" spc="-128" dirty="0">
                <a:solidFill>
                  <a:srgbClr val="62C3F0"/>
                </a:solidFill>
                <a:latin typeface="Fira Mono Bold" pitchFamily="34" charset="0"/>
                <a:ea typeface="Fira Mono Bold" pitchFamily="34" charset="-122"/>
                <a:cs typeface="Fira Mono Bold" pitchFamily="34" charset="-120"/>
              </a:rPr>
              <a:t>403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457189" y="5520730"/>
            <a:ext cx="11277318" cy="880070"/>
          </a:xfrm>
          <a:prstGeom prst="roundRect">
            <a:avLst>
              <a:gd name="adj" fmla="val 10909"/>
            </a:avLst>
          </a:prstGeom>
          <a:solidFill>
            <a:srgbClr val="596D13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3" y="5819815"/>
            <a:ext cx="114297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Имя 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</a:t>
            </a: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 статус нужно сверить с 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urls.py</a:t>
            </a: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99394" y="6526510"/>
            <a:ext cx="39230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467</Words>
  <Application>Microsoft Office PowerPoint</Application>
  <PresentationFormat>Широкоэкранный</PresentationFormat>
  <Paragraphs>109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Noto Sans</vt:lpstr>
      <vt:lpstr>Arial</vt:lpstr>
      <vt:lpstr>Noto Sans Medium</vt:lpstr>
      <vt:lpstr>Consolas</vt:lpstr>
      <vt:lpstr>Fira Mono Medium</vt:lpstr>
      <vt:lpstr>Noto Sans ExtraBold</vt:lpstr>
      <vt:lpstr>Noto Sans SemiBold</vt:lpstr>
      <vt:lpstr>Fira Mono</vt:lpstr>
      <vt:lpstr>Calibri</vt:lpstr>
      <vt:lpstr>Fira Mono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sigma</dc:creator>
  <cp:lastModifiedBy>Егор Сидоренко</cp:lastModifiedBy>
  <cp:revision>3</cp:revision>
  <dcterms:created xsi:type="dcterms:W3CDTF">2026-10-14T05:23:43Z</dcterms:created>
  <dcterms:modified xsi:type="dcterms:W3CDTF">2026-10-14T05:35:07Z</dcterms:modified>
</cp:coreProperties>
</file>